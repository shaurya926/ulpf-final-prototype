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676656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EAF2FF"/>
                </a:solidFill>
              </a:rPr>
              <a:t>Universal Log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AF2FF"/>
                </a:solidFill>
              </a:rPr>
              <a:t>Pre-processing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AF2FF"/>
                </a:solidFill>
              </a:rPr>
              <a:t>Framework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A7FF"/>
                </a:solidFill>
              </a:rPr>
              <a:t>One schema. Any supported perimeter device. Zero forensic data loss.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6656" y="34015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FC2E2"/>
                </a:solidFill>
              </a:rPr>
              <a:t>Problem: every firewall/device speaks a different log language. Teams burn time before security analytics can even begin.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960120"/>
            <a:ext cx="1280160" cy="320040"/>
          </a:xfrm>
          <a:prstGeom prst="roundRect">
            <a:avLst/>
          </a:prstGeom>
          <a:solidFill>
            <a:srgbClr val="102744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2FF"/>
                </a:solidFill>
              </a:rPr>
              <a:t>FortiGate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70648" y="960120"/>
            <a:ext cx="1280160" cy="320040"/>
          </a:xfrm>
          <a:prstGeom prst="roundRect">
            <a:avLst/>
          </a:prstGeom>
          <a:solidFill>
            <a:srgbClr val="102744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2FF"/>
                </a:solidFill>
              </a:rPr>
              <a:t>Cisco ASA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06256" y="960120"/>
            <a:ext cx="1188720" cy="320040"/>
          </a:xfrm>
          <a:prstGeom prst="roundRect">
            <a:avLst/>
          </a:prstGeom>
          <a:solidFill>
            <a:srgbClr val="102744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2FF"/>
                </a:solidFill>
              </a:rPr>
              <a:t>PAN-OS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22992" y="960120"/>
            <a:ext cx="749808" cy="320040"/>
          </a:xfrm>
          <a:prstGeom prst="roundRect">
            <a:avLst/>
          </a:prstGeom>
          <a:solidFill>
            <a:srgbClr val="102744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2FF"/>
                </a:solidFill>
              </a:rPr>
              <a:t>CEF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091672" y="960120"/>
            <a:ext cx="786384" cy="320040"/>
          </a:xfrm>
          <a:prstGeom prst="roundRect">
            <a:avLst/>
          </a:prstGeom>
          <a:solidFill>
            <a:srgbClr val="102744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2FF"/>
                </a:solidFill>
              </a:rPr>
              <a:t>Syslog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5E3FF"/>
                </a:solidFill>
              </a:rPr>
              <a:t>five vendor formats  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3952" y="2816352"/>
            <a:ext cx="4892040" cy="658368"/>
          </a:xfrm>
          <a:prstGeom prst="roundRect">
            <a:avLst/>
          </a:prstGeom>
          <a:solidFill>
            <a:srgbClr val="0D1D33"/>
          </a:solidFill>
          <a:ln w="19050">
            <a:solidFill>
              <a:srgbClr val="65E3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2FF"/>
                </a:solidFill>
              </a:rPr>
              <a:t>ULPF translation layer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915400" y="3547872"/>
            <a:ext cx="0" cy="731520"/>
          </a:xfrm>
          <a:prstGeom prst="line">
            <a:avLst/>
          </a:prstGeom>
          <a:noFill/>
          <a:ln w="20320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784848" y="4416552"/>
            <a:ext cx="4297680" cy="768096"/>
          </a:xfrm>
          <a:prstGeom prst="roundRect">
            <a:avLst/>
          </a:prstGeom>
          <a:solidFill>
            <a:srgbClr val="0A2E2A"/>
          </a:solidFill>
          <a:ln w="15240">
            <a:solidFill>
              <a:srgbClr val="9CFCC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FCCB"/>
                </a:solidFill>
              </a:rPr>
              <a:t>Normalized cyber event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9CFCCB"/>
                </a:solidFill>
              </a:rPr>
              <a:t>+ exact raw evidence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" y="5084064"/>
            <a:ext cx="1143000" cy="822960"/>
          </a:xfrm>
          <a:prstGeom prst="roundRect">
            <a:avLst/>
          </a:prstGeom>
          <a:solidFill>
            <a:srgbClr val="0D1D33"/>
          </a:solidFill>
          <a:ln w="11430">
            <a:solidFill>
              <a:srgbClr val="2B568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</a:rPr>
              <a:t>5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850" dirty="0">
                <a:solidFill>
                  <a:srgbClr val="AFC2E2"/>
                </a:solidFill>
              </a:rPr>
              <a:t>active adapters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84832" y="5084064"/>
            <a:ext cx="1325880" cy="822960"/>
          </a:xfrm>
          <a:prstGeom prst="roundRect">
            <a:avLst/>
          </a:prstGeom>
          <a:solidFill>
            <a:srgbClr val="0D1D33"/>
          </a:solidFill>
          <a:ln w="11430">
            <a:solidFill>
              <a:srgbClr val="2B568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</a:rPr>
              <a:t>34/34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850" dirty="0">
                <a:solidFill>
                  <a:srgbClr val="AFC2E2"/>
                </a:solidFill>
              </a:rPr>
              <a:t>tests passed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57600" y="5084064"/>
            <a:ext cx="1444752" cy="822960"/>
          </a:xfrm>
          <a:prstGeom prst="roundRect">
            <a:avLst/>
          </a:prstGeom>
          <a:solidFill>
            <a:srgbClr val="0D1D33"/>
          </a:solidFill>
          <a:ln w="11430">
            <a:solidFill>
              <a:srgbClr val="2B568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</a:rPr>
              <a:t>3×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850" dirty="0">
                <a:solidFill>
                  <a:srgbClr val="AFC2E2"/>
                </a:solidFill>
              </a:rPr>
              <a:t>demo rehearsals passed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58384" y="5084064"/>
            <a:ext cx="1298448" cy="822960"/>
          </a:xfrm>
          <a:prstGeom prst="roundRect">
            <a:avLst/>
          </a:prstGeom>
          <a:solidFill>
            <a:srgbClr val="0D1D33"/>
          </a:solidFill>
          <a:ln w="11430">
            <a:solidFill>
              <a:srgbClr val="2B568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</a:rPr>
              <a:t>0%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850" dirty="0">
                <a:solidFill>
                  <a:srgbClr val="AFC2E2"/>
                </a:solidFill>
              </a:rPr>
              <a:t>benchmark failures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0352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2"/>
                </a:solidFill>
              </a:rPr>
              <a:t>One schema · Any supported perimeter device · Zero forensic data loss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2FF"/>
                </a:solidFill>
              </a:rPr>
              <a:t>Architecture: deterministic core, plugin edge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2E2"/>
                </a:solidFill>
              </a:rPr>
              <a:t>Known sources stay offline and deterministic; authoring assistance stays outside the hot path.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10928" y="393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8A7FF"/>
                </a:solidFill>
              </a:rPr>
              <a:t>ULPF · SIH26156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65376" y="2203704"/>
            <a:ext cx="109728" cy="0"/>
          </a:xfrm>
          <a:prstGeom prst="line">
            <a:avLst/>
          </a:prstGeom>
          <a:noFill/>
          <a:ln w="14605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73552" y="2203704"/>
            <a:ext cx="109728" cy="0"/>
          </a:xfrm>
          <a:prstGeom prst="line">
            <a:avLst/>
          </a:prstGeom>
          <a:noFill/>
          <a:ln w="14605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81728" y="2203704"/>
            <a:ext cx="109728" cy="0"/>
          </a:xfrm>
          <a:prstGeom prst="line">
            <a:avLst/>
          </a:prstGeom>
          <a:noFill/>
          <a:ln w="14605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9904" y="2203704"/>
            <a:ext cx="109728" cy="0"/>
          </a:xfrm>
          <a:prstGeom prst="line">
            <a:avLst/>
          </a:prstGeom>
          <a:noFill/>
          <a:ln w="14605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98080" y="2203704"/>
            <a:ext cx="109728" cy="0"/>
          </a:xfrm>
          <a:prstGeom prst="line">
            <a:avLst/>
          </a:prstGeom>
          <a:noFill/>
          <a:ln w="14605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06256" y="2203704"/>
            <a:ext cx="109728" cy="0"/>
          </a:xfrm>
          <a:prstGeom prst="line">
            <a:avLst/>
          </a:prstGeom>
          <a:noFill/>
          <a:ln w="14605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314432" y="2203704"/>
            <a:ext cx="109728" cy="0"/>
          </a:xfrm>
          <a:prstGeom prst="line">
            <a:avLst/>
          </a:prstGeom>
          <a:noFill/>
          <a:ln w="14605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66928" y="1874520"/>
            <a:ext cx="1298448" cy="68580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2FF"/>
                </a:solidFill>
              </a:rPr>
              <a:t>Ingest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AFC2E2"/>
                </a:solidFill>
              </a:rPr>
              <a:t>paste · file · batch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75104" y="1874520"/>
            <a:ext cx="1298448" cy="68580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2FF"/>
                </a:solidFill>
              </a:rPr>
              <a:t>Raw store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AFC2E2"/>
                </a:solidFill>
              </a:rPr>
              <a:t>exact payload + hash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874520"/>
            <a:ext cx="1298448" cy="68580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2FF"/>
                </a:solidFill>
              </a:rPr>
              <a:t>Detect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AFC2E2"/>
                </a:solidFill>
              </a:rPr>
              <a:t>confidence + evidence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91456" y="1874520"/>
            <a:ext cx="1298448" cy="68580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2FF"/>
                </a:solidFill>
              </a:rPr>
              <a:t>Registry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AFC2E2"/>
                </a:solidFill>
              </a:rPr>
              <a:t>versioned plugins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1874520"/>
            <a:ext cx="1298448" cy="68580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2FF"/>
                </a:solidFill>
              </a:rPr>
              <a:t>Parse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AFC2E2"/>
                </a:solidFill>
              </a:rPr>
              <a:t>source-shaped fields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07808" y="1874520"/>
            <a:ext cx="1298448" cy="68580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2FF"/>
                </a:solidFill>
              </a:rPr>
              <a:t>Normalize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AFC2E2"/>
                </a:solidFill>
              </a:rPr>
              <a:t>schema + taxonomy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15984" y="1874520"/>
            <a:ext cx="1298448" cy="68580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2FF"/>
                </a:solidFill>
              </a:rPr>
              <a:t>Validate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AFC2E2"/>
                </a:solidFill>
              </a:rPr>
              <a:t>safe/quarantine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424160" y="1874520"/>
            <a:ext cx="1298448" cy="68580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2FF"/>
                </a:solidFill>
              </a:rPr>
              <a:t>Export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AFC2E2"/>
                </a:solidFill>
              </a:rPr>
              <a:t>JSON · NDJSON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27355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FCCB"/>
                </a:solidFill>
              </a:rPr>
              <a:t>Losslessness layer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82112" y="3429000"/>
            <a:ext cx="6949440" cy="0"/>
          </a:xfrm>
          <a:prstGeom prst="line">
            <a:avLst/>
          </a:prstGeom>
          <a:noFill/>
          <a:ln w="19050">
            <a:solidFill>
              <a:srgbClr val="9CFC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37033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2E2"/>
                </a:solidFill>
              </a:rPr>
              <a:t>Raw payload retained · normalized event references raw ID · field trace records source field and transform · unknown events quarantined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" y="4736592"/>
            <a:ext cx="2651760" cy="512064"/>
          </a:xfrm>
          <a:prstGeom prst="roundRect">
            <a:avLst/>
          </a:prstGeom>
          <a:solidFill>
            <a:srgbClr val="0D1D33"/>
          </a:solidFill>
          <a:ln w="15240">
            <a:solidFill>
              <a:srgbClr val="68A7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</a:rPr>
              <a:t>No giant vendor if/else chain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75888" y="4736592"/>
            <a:ext cx="3035808" cy="512064"/>
          </a:xfrm>
          <a:prstGeom prst="roundRect">
            <a:avLst/>
          </a:prstGeom>
          <a:solidFill>
            <a:srgbClr val="0D1D33"/>
          </a:solidFill>
          <a:ln w="15240">
            <a:solidFill>
              <a:srgbClr val="65E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</a:rPr>
              <a:t>Independent plugin manifests + mappings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31152" y="4736592"/>
            <a:ext cx="3730752" cy="512064"/>
          </a:xfrm>
          <a:prstGeom prst="roundRect">
            <a:avLst/>
          </a:prstGeom>
          <a:solidFill>
            <a:srgbClr val="0D1D33"/>
          </a:solidFill>
          <a:ln w="15240">
            <a:solidFill>
              <a:srgbClr val="9CFCC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</a:rPr>
              <a:t>Wrong parser prevention via evidence + validation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30352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2"/>
                </a:solidFill>
              </a:rPr>
              <a:t>One schema · Any supported perimeter device · Zero forensic data loss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2FF"/>
                </a:solidFill>
              </a:rPr>
              <a:t>Live proof: one unified view across five vendors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2E2"/>
                </a:solidFill>
              </a:rPr>
              <a:t>The judge sees backend depth in the explorer and hero inspector—not a fake SOC dashboard.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10928" y="393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8A7FF"/>
                </a:solidFill>
              </a:rPr>
              <a:t>ULPF · SIH26156</a:t>
            </a:r>
            <a:endParaRPr lang="en-US" sz="1000" dirty="0"/>
          </a:p>
        </p:txBody>
      </p:sp>
      <p:pic>
        <p:nvPicPr>
          <p:cNvPr id="6" name="Image 0" descr="/mnt/data/ulpf-final/preview/ULPF_Final_UI_Preview.png">    </p:cNvPr>
          <p:cNvPicPr>
            <a:picLocks noChangeAspect="1"/>
          </p:cNvPicPr>
          <p:nvPr/>
        </p:nvPicPr>
        <p:blipFill>
          <a:blip r:embed="rId1"/>
          <a:srcRect l="0" r="0" t="4309" b="4309"/>
          <a:stretch/>
        </p:blipFill>
        <p:spPr>
          <a:xfrm>
            <a:off x="530352" y="1170432"/>
            <a:ext cx="7498080" cy="5138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874520"/>
            <a:ext cx="640080" cy="-146304"/>
          </a:xfrm>
          <a:prstGeom prst="line">
            <a:avLst/>
          </a:prstGeom>
          <a:noFill/>
          <a:ln w="17780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8823960" y="1481328"/>
            <a:ext cx="2697480" cy="512064"/>
          </a:xfrm>
          <a:prstGeom prst="roundRect">
            <a:avLst/>
          </a:prstGeom>
          <a:solidFill>
            <a:srgbClr val="0D1D33"/>
          </a:solidFill>
          <a:ln w="15240">
            <a:solidFill>
              <a:srgbClr val="65E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</a:rPr>
              <a:t>DENY filter returns 5 records across 5 source languages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83880" y="3749040"/>
            <a:ext cx="621792" cy="320040"/>
          </a:xfrm>
          <a:prstGeom prst="line">
            <a:avLst/>
          </a:prstGeom>
          <a:noFill/>
          <a:ln w="17780">
            <a:solidFill>
              <a:srgbClr val="9CFCCB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8833104" y="3767328"/>
            <a:ext cx="2697480" cy="512064"/>
          </a:xfrm>
          <a:prstGeom prst="roundRect">
            <a:avLst/>
          </a:prstGeom>
          <a:solidFill>
            <a:srgbClr val="0D1D33"/>
          </a:solidFill>
          <a:ln w="15240">
            <a:solidFill>
              <a:srgbClr val="9CFCC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</a:rPr>
              <a:t>RAW → PARSED → NORMALIZED proves traceability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833104" y="5193792"/>
            <a:ext cx="1261872" cy="822960"/>
          </a:xfrm>
          <a:prstGeom prst="roundRect">
            <a:avLst/>
          </a:prstGeom>
          <a:solidFill>
            <a:srgbClr val="0D1D33"/>
          </a:solidFill>
          <a:ln w="11430">
            <a:solidFill>
              <a:srgbClr val="2B568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</a:rPr>
              <a:t>10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850" dirty="0">
                <a:solidFill>
                  <a:srgbClr val="AFC2E2"/>
                </a:solidFill>
              </a:rPr>
              <a:t>judge demo events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222992" y="5193792"/>
            <a:ext cx="1261872" cy="822960"/>
          </a:xfrm>
          <a:prstGeom prst="roundRect">
            <a:avLst/>
          </a:prstGeom>
          <a:solidFill>
            <a:srgbClr val="0D1D33"/>
          </a:solidFill>
          <a:ln w="11430">
            <a:solidFill>
              <a:srgbClr val="2B568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</a:rPr>
              <a:t>5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850" dirty="0">
                <a:solidFill>
                  <a:srgbClr val="AFC2E2"/>
                </a:solidFill>
              </a:rPr>
              <a:t>vendors with DENY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30352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2"/>
                </a:solidFill>
              </a:rPr>
              <a:t>One schema · Any supported perimeter device · Zero forensic data loss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2FF"/>
                </a:solidFill>
              </a:rPr>
              <a:t>Innovation without weakening the deterministic path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2E2"/>
                </a:solidFill>
              </a:rPr>
              <a:t>AI/rule-based assistance helps author parsers; known-source parsing remains deterministic and offline.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10928" y="393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8A7FF"/>
                </a:solidFill>
              </a:rPr>
              <a:t>ULPF · SIH26156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78608" y="2011680"/>
            <a:ext cx="182880" cy="0"/>
          </a:xfrm>
          <a:prstGeom prst="line">
            <a:avLst/>
          </a:prstGeom>
          <a:noFill/>
          <a:ln w="14605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81728" y="2011680"/>
            <a:ext cx="182880" cy="0"/>
          </a:xfrm>
          <a:prstGeom prst="line">
            <a:avLst/>
          </a:prstGeom>
          <a:noFill/>
          <a:ln w="14605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84848" y="2011680"/>
            <a:ext cx="182880" cy="0"/>
          </a:xfrm>
          <a:prstGeom prst="line">
            <a:avLst/>
          </a:prstGeom>
          <a:noFill/>
          <a:ln w="14605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887968" y="2011680"/>
            <a:ext cx="182880" cy="0"/>
          </a:xfrm>
          <a:prstGeom prst="line">
            <a:avLst/>
          </a:prstGeom>
          <a:noFill/>
          <a:ln w="14605">
            <a:solidFill>
              <a:srgbClr val="65E3F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58368" y="1600200"/>
            <a:ext cx="1920240" cy="82296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F"/>
                </a:solidFill>
              </a:rPr>
              <a:t>Unknown samples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C2E2"/>
                </a:solidFill>
              </a:rPr>
              <a:t>retained + analyzed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61488" y="1600200"/>
            <a:ext cx="1920240" cy="82296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F"/>
                </a:solidFill>
              </a:rPr>
              <a:t>Structure inference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C2E2"/>
                </a:solidFill>
              </a:rPr>
              <a:t>fields + evidence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600200"/>
            <a:ext cx="1920240" cy="82296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F"/>
                </a:solidFill>
              </a:rPr>
              <a:t>Mapping preview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C2E2"/>
                </a:solidFill>
              </a:rPr>
              <a:t>validation warnings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67728" y="1600200"/>
            <a:ext cx="1920240" cy="82296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F"/>
                </a:solidFill>
              </a:rPr>
              <a:t>Plugin draft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C2E2"/>
                </a:solidFill>
              </a:rPr>
              <a:t>human review only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70848" y="1600200"/>
            <a:ext cx="1920240" cy="822960"/>
          </a:xfrm>
          <a:prstGeom prst="roundRect">
            <a:avLst/>
          </a:prstGeom>
          <a:solidFill>
            <a:srgbClr val="0D1D33"/>
          </a:solidFill>
          <a:ln w="12700">
            <a:solidFill>
              <a:srgbClr val="2B568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F"/>
                </a:solidFill>
              </a:rPr>
              <a:t>Activate later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FC2E2"/>
                </a:solidFill>
              </a:rPr>
              <a:t>fixtures must pass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" y="3127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</a:rPr>
              <a:t>Hardening added for judging and real deployment concerns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548640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AFC2E2"/>
                </a:solidFill>
              </a:rPr>
              <a:t>Oversized input rejected before persistence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AFC2E2"/>
                </a:solidFill>
              </a:rPr>
              <a:t>Plugin paths validated against traversal/symlink escape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AFC2E2"/>
                </a:solidFill>
              </a:rPr>
              <a:t>Raw logs rendered safely as text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AFC2E2"/>
                </a:solidFill>
              </a:rPr>
              <a:t>Audit trail for parser/draft changes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AFC2E2"/>
                </a:solidFill>
              </a:rPr>
              <a:t>Air-gap process check and Docker/Compose packaging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AFC2E2"/>
                </a:solidFill>
              </a:rPr>
              <a:t>NDJSON export for SIEM/data-lake integration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33488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</a:rPr>
              <a:t>Benchmark snapshot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88352" y="3611880"/>
            <a:ext cx="1874520" cy="822960"/>
          </a:xfrm>
          <a:prstGeom prst="roundRect">
            <a:avLst/>
          </a:prstGeom>
          <a:solidFill>
            <a:srgbClr val="0D1D33"/>
          </a:solidFill>
          <a:ln w="11430">
            <a:solidFill>
              <a:srgbClr val="2B568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</a:rPr>
              <a:t>33.39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850" dirty="0">
                <a:solidFill>
                  <a:srgbClr val="AFC2E2"/>
                </a:solidFill>
              </a:rPr>
              <a:t>events/sec local baseline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46920" y="3611880"/>
            <a:ext cx="1737360" cy="822960"/>
          </a:xfrm>
          <a:prstGeom prst="roundRect">
            <a:avLst/>
          </a:prstGeom>
          <a:solidFill>
            <a:srgbClr val="0D1D33"/>
          </a:solidFill>
          <a:ln w="11430">
            <a:solidFill>
              <a:srgbClr val="2B568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</a:rPr>
              <a:t>26.53ms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850" dirty="0">
                <a:solidFill>
                  <a:srgbClr val="AFC2E2"/>
                </a:solidFill>
              </a:rPr>
              <a:t>p50 latency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88352" y="4617720"/>
            <a:ext cx="1783080" cy="822960"/>
          </a:xfrm>
          <a:prstGeom prst="roundRect">
            <a:avLst/>
          </a:prstGeom>
          <a:solidFill>
            <a:srgbClr val="0D1D33"/>
          </a:solidFill>
          <a:ln w="11430">
            <a:solidFill>
              <a:srgbClr val="2B568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</a:rPr>
              <a:t>51.27ms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850" dirty="0">
                <a:solidFill>
                  <a:srgbClr val="AFC2E2"/>
                </a:solidFill>
              </a:rPr>
              <a:t>p95 latency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46920" y="4617720"/>
            <a:ext cx="1188720" cy="822960"/>
          </a:xfrm>
          <a:prstGeom prst="roundRect">
            <a:avLst/>
          </a:prstGeom>
          <a:solidFill>
            <a:srgbClr val="0D1D33"/>
          </a:solidFill>
          <a:ln w="11430">
            <a:solidFill>
              <a:srgbClr val="2B568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</a:rPr>
              <a:t>0%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850" dirty="0">
                <a:solidFill>
                  <a:srgbClr val="AFC2E2"/>
                </a:solidFill>
              </a:rPr>
              <a:t>failure rate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60920" y="55595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D27D"/>
                </a:solidFill>
              </a:rPr>
              <a:t>Measured on synthetic judge-demo fixtures, single process + SQLite. Not a production scale claim.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2"/>
                </a:solidFill>
              </a:rPr>
              <a:t>One schema · Any supported perimeter device · Zero forensic data loss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AF2FF"/>
                </a:solidFill>
              </a:rPr>
              <a:t>Hackathon close: what judges should remember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8503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2E2"/>
                </a:solidFill>
              </a:rPr>
              <a:t>ULPF is the lossless preprocessing layer before SIEMs, data lakes and analytics.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10928" y="393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8A7FF"/>
                </a:solidFill>
              </a:rPr>
              <a:t>ULPF · SIH26156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76656" y="1261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2FF"/>
                </a:solidFill>
              </a:rPr>
              <a:t>2-minute judge flow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1764792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AFC2E2"/>
                </a:solidFill>
              </a:rPr>
              <a:t>1. Show heterogeneous raw formats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AFC2E2"/>
                </a:solidFill>
              </a:rPr>
              <a:t>2. Process mixed vendor batch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AFC2E2"/>
                </a:solidFill>
              </a:rPr>
              <a:t>3. Filter DENY across vendors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AFC2E2"/>
                </a:solidFill>
              </a:rPr>
              <a:t>4. Inspect RAW → PARSED → NORMALIZED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AFC2E2"/>
                </a:solidFill>
              </a:rPr>
              <a:t>5. Show unknown onboarding draft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AFC2E2"/>
                </a:solidFill>
              </a:rPr>
              <a:t>6. Close on benchmark + offline status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5623560" y="1261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2FF"/>
                </a:solidFill>
              </a:rPr>
              <a:t>Proof points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42432" y="1764792"/>
            <a:ext cx="4251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420" dirty="0">
                <a:solidFill>
                  <a:srgbClr val="AFC2E2"/>
                </a:solidFill>
              </a:rPr>
              <a:t>34/34 automated tests</a:t>
            </a:r>
            <a:endParaRPr lang="en-US" sz="1420" dirty="0"/>
          </a:p>
          <a:p>
            <a:pPr marL="127000" indent="-127000">
              <a:buSzPct val="100000"/>
              <a:buChar char="•"/>
            </a:pPr>
            <a:r>
              <a:rPr lang="en-US" sz="1420" dirty="0">
                <a:solidFill>
                  <a:srgbClr val="AFC2E2"/>
                </a:solidFill>
              </a:rPr>
              <a:t>three consecutive rehearsals</a:t>
            </a:r>
            <a:endParaRPr lang="en-US" sz="1420" dirty="0"/>
          </a:p>
          <a:p>
            <a:pPr marL="127000" indent="-127000">
              <a:buSzPct val="100000"/>
              <a:buChar char="•"/>
            </a:pPr>
            <a:r>
              <a:rPr lang="en-US" sz="1420" dirty="0">
                <a:solidFill>
                  <a:srgbClr val="AFC2E2"/>
                </a:solidFill>
              </a:rPr>
              <a:t>5 vendors normalized into one schema</a:t>
            </a:r>
            <a:endParaRPr lang="en-US" sz="1420" dirty="0"/>
          </a:p>
          <a:p>
            <a:pPr marL="127000" indent="-127000">
              <a:buSzPct val="100000"/>
              <a:buChar char="•"/>
            </a:pPr>
            <a:r>
              <a:rPr lang="en-US" sz="1420" dirty="0">
                <a:solidFill>
                  <a:srgbClr val="AFC2E2"/>
                </a:solidFill>
              </a:rPr>
              <a:t>exact raw recovery from normalized event</a:t>
            </a:r>
            <a:endParaRPr lang="en-US" sz="1420" dirty="0"/>
          </a:p>
          <a:p>
            <a:pPr marL="127000" indent="-127000">
              <a:buSzPct val="100000"/>
              <a:buChar char="•"/>
            </a:pPr>
            <a:r>
              <a:rPr lang="en-US" sz="1420" dirty="0">
                <a:solidFill>
                  <a:srgbClr val="AFC2E2"/>
                </a:solidFill>
              </a:rPr>
              <a:t>unknown events retained + quarantined</a:t>
            </a:r>
            <a:endParaRPr lang="en-US" sz="1420" dirty="0"/>
          </a:p>
          <a:p>
            <a:pPr marL="127000" indent="-127000">
              <a:buSzPct val="100000"/>
              <a:buChar char="•"/>
            </a:pPr>
            <a:r>
              <a:rPr lang="en-US" sz="1420" dirty="0">
                <a:solidFill>
                  <a:srgbClr val="AFC2E2"/>
                </a:solidFill>
              </a:rPr>
              <a:t>offline deterministic core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932688" y="4617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FCCB"/>
                </a:solidFill>
              </a:rPr>
              <a:t>Winning answer in one sentence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5047488"/>
            <a:ext cx="9875520" cy="658368"/>
          </a:xfrm>
          <a:prstGeom prst="roundRect">
            <a:avLst/>
          </a:prstGeom>
          <a:solidFill>
            <a:srgbClr val="0D1D33"/>
          </a:solidFill>
          <a:ln w="15240">
            <a:solidFill>
              <a:srgbClr val="9CFCC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F"/>
                </a:solidFill>
              </a:rPr>
              <a:t>“It converts logs from different perimeter devices into one common event language while preserving the exact original evidence and showing where every normalized field came from.”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0352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2"/>
                </a:solidFill>
              </a:rPr>
              <a:t>Next path: queue-backed stateless workers · more adapters · ECS/OCSF mappings · OpenSearch/Kafka integrations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ULPF Technical Pitch</dc:title>
  <dc:subject>Universal Log Pre-processing Framework</dc:subject>
  <dc:creator>ULPF SIH Team</dc:creator>
  <cp:lastModifiedBy>ULPF SIH Team</cp:lastModifiedBy>
  <cp:revision>1</cp:revision>
  <dcterms:created xsi:type="dcterms:W3CDTF">2026-08-26T19:01:01Z</dcterms:created>
  <dcterms:modified xsi:type="dcterms:W3CDTF">2026-08-26T19:01:01Z</dcterms:modified>
</cp:coreProperties>
</file>